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86" r:id="rId4"/>
    <p:sldId id="265" r:id="rId5"/>
    <p:sldId id="287" r:id="rId6"/>
    <p:sldId id="257" r:id="rId7"/>
    <p:sldId id="291" r:id="rId8"/>
    <p:sldId id="258" r:id="rId9"/>
    <p:sldId id="259" r:id="rId10"/>
    <p:sldId id="284" r:id="rId11"/>
    <p:sldId id="261" r:id="rId12"/>
    <p:sldId id="262" r:id="rId13"/>
    <p:sldId id="264" r:id="rId14"/>
    <p:sldId id="263" r:id="rId15"/>
    <p:sldId id="26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valdo Estévanez Jiménez" initials="OE" lastIdx="1" clrIdx="0">
    <p:extLst>
      <p:ext uri="{19B8F6BF-5375-455C-9EA6-DF929625EA0E}">
        <p15:presenceInfo xmlns:p15="http://schemas.microsoft.com/office/powerpoint/2012/main" userId="670751adc1625f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07" autoAdjust="0"/>
  </p:normalViewPr>
  <p:slideViewPr>
    <p:cSldViewPr snapToGrid="0" snapToObjects="1">
      <p:cViewPr varScale="1">
        <p:scale>
          <a:sx n="88" d="100"/>
          <a:sy n="88" d="100"/>
        </p:scale>
        <p:origin x="6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7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Quien</a:t>
            </a:r>
            <a:r>
              <a:rPr lang="en-US" dirty="0"/>
              <a:t> soy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Background – Master &amp; PhD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Trabajo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AB8C-1AC7-3951-376C-E6DE75E6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6BBFE-3C21-3B92-5A66-83AEB4263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8C0E7-6BA5-16AF-143A-455C5028E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ED82C-5222-1F1F-C782-8DE89C2BC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5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61C0-77A7-58C4-B283-F8FA25CB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2EC96-D8DB-FB8F-BE84-119518F7A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EF6C4-6128-898F-47BE-5874CE011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5E95-48B1-80D0-DBF5-4C0ABBE560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01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osvaldoej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uday_devops/status/2029197249419301306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claw/openclaw/pull/15423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467"/>
            <a:ext cx="32004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160678" y="2877036"/>
            <a:ext cx="617984" cy="598932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274319" y="457200"/>
            <a:ext cx="39901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A86FF"/>
                </a:solidFill>
                <a:latin typeface="Arial Black" pitchFamily="34" charset="0"/>
              </a:rPr>
              <a:t>Proyecto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E2E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18288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651760"/>
            <a:ext cx="2651760" cy="36576"/>
          </a:xfrm>
          <a:prstGeom prst="rect">
            <a:avLst/>
          </a:prstGeom>
          <a:solidFill>
            <a:srgbClr val="3A86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19" y="1800120"/>
            <a:ext cx="2651760" cy="691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Desarrollo de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solución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negocio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real con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tecnologías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punteras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última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generación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(IA),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siguiendo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las practices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estándar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la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ingeniaría</a:t>
            </a:r>
            <a:r>
              <a:rPr lang="en-US" sz="9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</a:t>
            </a:r>
            <a:r>
              <a:rPr lang="en-US" sz="900" b="1" dirty="0" err="1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411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 COMPLETO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8686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Por qué necesitamos Control de Versiones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12710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Qué son Git y GitHub — diferencias clave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16733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Comandos esenciales de Git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20756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Ramas, merges y Pull Requests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247802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Commits efectivos — buenas prácticas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Gestión de entornos: UV, DVC &amp; Marimo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32826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Limpieza de datos con Expresiones Regulares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36850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Introducción a los LLMs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83280" y="40873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Superparámetros: Temperature, Max Tokens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83280" y="448970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Pipeline: Gmail API + LLM + Reporting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7180" y="3042459"/>
            <a:ext cx="30453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Osvaldo EJ -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Linkedin</a:t>
            </a:r>
            <a:endParaRPr lang="en-US" sz="1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B1A96BD-52B8-622B-16E1-2780DA48C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2960995"/>
            <a:ext cx="399011" cy="39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365760"/>
            <a:ext cx="1828800" cy="1828800"/>
          </a:xfrm>
          <a:prstGeom prst="ellipse">
            <a:avLst/>
          </a:prstGeom>
          <a:solidFill>
            <a:srgbClr val="3A86FF">
              <a:alpha val="13000"/>
            </a:srgbClr>
          </a:solidFill>
          <a:ln w="12700">
            <a:solidFill>
              <a:srgbClr val="3A86FF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3840480"/>
            <a:ext cx="1097280" cy="109728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"/>
            <a:ext cx="54864" cy="43891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UV — El Gestor de Paquetes del Futuro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859536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253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22960"/>
            <a:ext cx="64008" cy="42062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50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es un gestor de paquetes y entornos Python escrito en Rust — hasta 100× más rápido que pip, con resolución de dependencias determinista y gestión de versiones de Python integrada.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35024"/>
            <a:ext cx="2926080" cy="329184"/>
          </a:xfrm>
          <a:prstGeom prst="rect">
            <a:avLst/>
          </a:prstGeom>
          <a:solidFill>
            <a:srgbClr val="3D1A1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35024"/>
            <a:ext cx="54864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pip  (el viejo)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2926080" cy="365760"/>
          </a:xfrm>
          <a:prstGeom prst="rect">
            <a:avLst/>
          </a:prstGeom>
          <a:solidFill>
            <a:srgbClr val="1A0F0F"/>
          </a:solidFill>
          <a:ln w="6350">
            <a:solidFill>
              <a:srgbClr val="3D2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Lento — instala paquete a paquete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2926080" cy="365760"/>
          </a:xfrm>
          <a:prstGeom prst="rect">
            <a:avLst/>
          </a:prstGeom>
          <a:solidFill>
            <a:srgbClr val="1A0F0F"/>
          </a:solidFill>
          <a:ln w="6350">
            <a:solidFill>
              <a:srgbClr val="3D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Sin lock file nativo → no reproducible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2926080" cy="365760"/>
          </a:xfrm>
          <a:prstGeom prst="rect">
            <a:avLst/>
          </a:prstGeom>
          <a:solidFill>
            <a:srgbClr val="1A0F0F"/>
          </a:solidFill>
          <a:ln w="6350">
            <a:solidFill>
              <a:srgbClr val="3D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88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gestiona versiones de Python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2926080" cy="365760"/>
          </a:xfrm>
          <a:prstGeom prst="rect">
            <a:avLst/>
          </a:prstGeom>
          <a:solidFill>
            <a:srgbClr val="1A0F0F"/>
          </a:solidFill>
          <a:ln w="6350">
            <a:solidFill>
              <a:srgbClr val="3D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Conflictos silenciosos entre deps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2926080" cy="365760"/>
          </a:xfrm>
          <a:prstGeom prst="rect">
            <a:avLst/>
          </a:prstGeom>
          <a:solidFill>
            <a:srgbClr val="1A0F0F"/>
          </a:solidFill>
          <a:ln w="6350">
            <a:solidFill>
              <a:srgbClr val="3D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Requiere virtualenv por separado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2926080" cy="365760"/>
          </a:xfrm>
          <a:prstGeom prst="rect">
            <a:avLst/>
          </a:prstGeom>
          <a:solidFill>
            <a:srgbClr val="1A0F0F"/>
          </a:solidFill>
          <a:ln w="6350">
            <a:solidFill>
              <a:srgbClr val="3D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pip install sin registrar → dep perdida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1335024"/>
            <a:ext cx="2926080" cy="329184"/>
          </a:xfrm>
          <a:prstGeom prst="rect">
            <a:avLst/>
          </a:prstGeom>
          <a:solidFill>
            <a:srgbClr val="0F2A1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335024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uv  (el nuevo)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1737360"/>
            <a:ext cx="2926080" cy="365760"/>
          </a:xfrm>
          <a:prstGeom prst="rect">
            <a:avLst/>
          </a:prstGeom>
          <a:solidFill>
            <a:srgbClr val="0A1F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Hasta 100× más rápido (Rust)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2176272"/>
            <a:ext cx="2926080" cy="365760"/>
          </a:xfrm>
          <a:prstGeom prst="rect">
            <a:avLst/>
          </a:prstGeom>
          <a:solidFill>
            <a:srgbClr val="0A1F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2494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uv.lock → entorno 100% reproducible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2615184"/>
            <a:ext cx="2926080" cy="365760"/>
          </a:xfrm>
          <a:prstGeom prst="rect">
            <a:avLst/>
          </a:prstGeom>
          <a:solidFill>
            <a:srgbClr val="0A1F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688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uv python install 3.12 — integrado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0" y="3054096"/>
            <a:ext cx="2926080" cy="365760"/>
          </a:xfrm>
          <a:prstGeom prst="rect">
            <a:avLst/>
          </a:prstGeom>
          <a:solidFill>
            <a:srgbClr val="0A1F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127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Resolución de deps determinista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83280" y="3493008"/>
            <a:ext cx="2926080" cy="365760"/>
          </a:xfrm>
          <a:prstGeom prst="rect">
            <a:avLst/>
          </a:prstGeom>
          <a:solidFill>
            <a:srgbClr val="0A1F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.venv automático con uv sync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83280" y="3931920"/>
            <a:ext cx="2926080" cy="365760"/>
          </a:xfrm>
          <a:prstGeom prst="rect">
            <a:avLst/>
          </a:prstGeom>
          <a:solidFill>
            <a:srgbClr val="0A1F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pyproject.toml como fuente de verdad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92240" y="1335024"/>
            <a:ext cx="237744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1335024"/>
            <a:ext cx="54864" cy="32918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Comandos esenciales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1737360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1773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mi-proyecto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83680" y="194767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proyecto nuevo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92240" y="2185416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22219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583680" y="23957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deps del lock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92240" y="2633472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2670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requests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83680" y="28437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dep y actualiza lock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92240" y="3081528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31181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remove requests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83680" y="32918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dep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92240" y="3529584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0" y="3566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main.py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583680" y="37398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sin activar venv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492240" y="3977640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40142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python install 3.12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583680" y="41879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versión Python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92240" y="4425696"/>
            <a:ext cx="23774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4462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X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83680" y="463600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con pip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365760"/>
            <a:ext cx="1828800" cy="18288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3840480"/>
            <a:ext cx="1097280" cy="109728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4592"/>
            <a:ext cx="54864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DVC — Control de Versiones para Datos y Modelos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859536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2536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22960"/>
            <a:ext cx="64008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50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(Data Version Control) extiende Git para versionar datasets y modelos de ML — sin meter ficheros gigantes en el repositorio.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35024"/>
            <a:ext cx="2834640" cy="329184"/>
          </a:xfrm>
          <a:prstGeom prst="rect">
            <a:avLst/>
          </a:prstGeom>
          <a:solidFill>
            <a:srgbClr val="1D0F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335024"/>
            <a:ext cx="54864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😰  El problema sin DVC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2834640" cy="365760"/>
          </a:xfrm>
          <a:prstGeom prst="rect">
            <a:avLst/>
          </a:prstGeom>
          <a:solidFill>
            <a:srgbClr val="120A1C"/>
          </a:solidFill>
          <a:ln w="6350">
            <a:solidFill>
              <a:srgbClr val="2D1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Git no acepta archivos &gt; 100 MB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2834640" cy="365760"/>
          </a:xfrm>
          <a:prstGeom prst="rect">
            <a:avLst/>
          </a:prstGeom>
          <a:solidFill>
            <a:srgbClr val="120A1C"/>
          </a:solidFill>
          <a:ln w="6350">
            <a:solidFill>
              <a:srgbClr val="2D1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494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¿Con qué dataset se entrenó este modelo?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2834640" cy="365760"/>
          </a:xfrm>
          <a:prstGeom prst="rect">
            <a:avLst/>
          </a:prstGeom>
          <a:solidFill>
            <a:srgbClr val="120A1C"/>
          </a:solidFill>
          <a:ln w="6350">
            <a:solidFill>
              <a:srgbClr val="2D1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88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data_v3_FINAL_2.csv — ¿cuál era bueno?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2834640" cy="365760"/>
          </a:xfrm>
          <a:prstGeom prst="rect">
            <a:avLst/>
          </a:prstGeom>
          <a:solidFill>
            <a:srgbClr val="120A1C"/>
          </a:solidFill>
          <a:ln w="6350">
            <a:solidFill>
              <a:srgbClr val="2D1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Reproducir un experimento de hace 2 meses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2834640" cy="365760"/>
          </a:xfrm>
          <a:prstGeom prst="rect">
            <a:avLst/>
          </a:prstGeom>
          <a:solidFill>
            <a:srgbClr val="120A1C"/>
          </a:solidFill>
          <a:ln w="6350">
            <a:solidFill>
              <a:srgbClr val="2D1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El colega tiene datos distintos → resultados distintos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931920"/>
            <a:ext cx="2834640" cy="365760"/>
          </a:xfrm>
          <a:prstGeom prst="rect">
            <a:avLst/>
          </a:prstGeom>
          <a:solidFill>
            <a:srgbClr val="120A1C"/>
          </a:solidFill>
          <a:ln w="6350">
            <a:solidFill>
              <a:srgbClr val="2D1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05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Compartir 50 GB de imágenes por Slack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1335024"/>
            <a:ext cx="2926080" cy="329184"/>
          </a:xfrm>
          <a:prstGeom prst="rect">
            <a:avLst/>
          </a:prstGeom>
          <a:solidFill>
            <a:srgbClr val="0A1F2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1335024"/>
            <a:ext cx="54864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Cómo lo soluciona DVC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1737360"/>
            <a:ext cx="2926080" cy="365760"/>
          </a:xfrm>
          <a:prstGeom prst="rect">
            <a:avLst/>
          </a:prstGeom>
          <a:solidFill>
            <a:srgbClr val="0A1C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17739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guarda el .dvc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1938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puntero ligero (&lt;1 KB) en el repo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91840" y="2176272"/>
            <a:ext cx="2926080" cy="365760"/>
          </a:xfrm>
          <a:prstGeom prst="rect">
            <a:avLst/>
          </a:prstGeom>
          <a:solidFill>
            <a:srgbClr val="0A1C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2128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guarda datos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237744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GDrive, Azure, SSH…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2615184"/>
            <a:ext cx="2926080" cy="365760"/>
          </a:xfrm>
          <a:prstGeom prst="rect">
            <a:avLst/>
          </a:prstGeom>
          <a:solidFill>
            <a:srgbClr val="0A1C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repro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2816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re-ejecuta solo etapas cambiadas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0" y="3054096"/>
            <a:ext cx="2926080" cy="365760"/>
          </a:xfrm>
          <a:prstGeom prst="rect">
            <a:avLst/>
          </a:prstGeom>
          <a:solidFill>
            <a:srgbClr val="0A1C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3090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checkout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29000" y="325526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datos de cualquier commit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91840" y="3493008"/>
            <a:ext cx="2926080" cy="365760"/>
          </a:xfrm>
          <a:prstGeom prst="rect">
            <a:avLst/>
          </a:prstGeom>
          <a:solidFill>
            <a:srgbClr val="0A1C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35295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 / pull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000" y="369417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datos como git push/pull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0" y="3931920"/>
            <a:ext cx="2926080" cy="365760"/>
          </a:xfrm>
          <a:prstGeom prst="rect">
            <a:avLst/>
          </a:prstGeom>
          <a:solidFill>
            <a:srgbClr val="0A1C14"/>
          </a:solidFill>
          <a:ln w="6350">
            <a:solidFill>
              <a:srgbClr val="1A3D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39684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metrics show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29000" y="41330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métricas entre experimentos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00800" y="1335024"/>
            <a:ext cx="24688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1335024"/>
            <a:ext cx="54864" cy="32918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dvc.yaml pipeline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00800" y="1737360"/>
            <a:ext cx="2468880" cy="502920"/>
          </a:xfrm>
          <a:prstGeom prst="rect">
            <a:avLst/>
          </a:prstGeom>
          <a:solidFill>
            <a:srgbClr val="1B2A4A"/>
          </a:solidFill>
          <a:ln w="10160">
            <a:solidFill>
              <a:srgbClr val="3A86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1737360"/>
            <a:ext cx="54864" cy="5029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fetch_emails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0" y="2258568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0" y="2395728"/>
            <a:ext cx="2468880" cy="502920"/>
          </a:xfrm>
          <a:prstGeom prst="rect">
            <a:avLst/>
          </a:prstGeom>
          <a:solidFill>
            <a:srgbClr val="1B2A4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2395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2532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clean_emails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0" y="291693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400800" y="3054096"/>
            <a:ext cx="2468880" cy="502920"/>
          </a:xfrm>
          <a:prstGeom prst="rect">
            <a:avLst/>
          </a:prstGeom>
          <a:solidFill>
            <a:srgbClr val="1B2A4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0" y="3054096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10528" y="3191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00800" y="3575304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400800" y="3712464"/>
            <a:ext cx="2468880" cy="502920"/>
          </a:xfrm>
          <a:prstGeom prst="rect">
            <a:avLst/>
          </a:prstGeom>
          <a:solidFill>
            <a:srgbClr val="1B2A4A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0" y="3712464"/>
            <a:ext cx="54864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10528" y="38496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prioritise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0" y="4590288"/>
            <a:ext cx="2468880" cy="329184"/>
          </a:xfrm>
          <a:prstGeom prst="rect">
            <a:avLst/>
          </a:prstGeom>
          <a:solidFill>
            <a:srgbClr val="FFD60A">
              <a:alpha val="18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6520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repro → todo reproducible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Entornos y Datos: UV &amp; DVC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02336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4023360" cy="45720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94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— Gestor de Paquetes Ultrarrápido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3749040" cy="457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Reemplaza pip y venv, escrito en Rust. 10-100× más rápido.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73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-LsSf https://astral.sh/uv/install.sh | 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3749040" cy="457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proyecto: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init mi-proyecto &amp;&amp; cd mi-proyecto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52928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71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paquete: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072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openai requests python-dotenv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401568"/>
            <a:ext cx="3749040" cy="45720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19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script: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main.py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versiones Python: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python install 3.12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640080"/>
            <a:ext cx="429768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640080"/>
            <a:ext cx="429768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6949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— Control de Versiones para Datos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207008"/>
            <a:ext cx="4023360" cy="457200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225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1426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para datos. Versiona datasets grandes sin llenar el repo.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755648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773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975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dvc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304288"/>
            <a:ext cx="4023360" cy="457200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5237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init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852928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2871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Trackear datos: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072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add data/emails.csv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401568"/>
            <a:ext cx="4023360" cy="457200"/>
          </a:xfrm>
          <a:prstGeom prst="rect">
            <a:avLst/>
          </a:prstGeom>
          <a:solidFill>
            <a:srgbClr val="F0FDF8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419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storage: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  (S3, GDrive, etc.)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950208"/>
            <a:ext cx="4023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3968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datos: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0600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pull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365760"/>
            <a:ext cx="1828800" cy="1828800"/>
          </a:xfrm>
          <a:prstGeom prst="ellipse">
            <a:avLst/>
          </a:prstGeom>
          <a:solidFill>
            <a:srgbClr val="EC4899">
              <a:alpha val="13000"/>
            </a:srgbClr>
          </a:solidFill>
          <a:ln w="12700">
            <a:solidFill>
              <a:srgbClr val="EC4899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4592"/>
            <a:ext cx="54864" cy="43891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144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Marimo vs Jupyter — Reactivo vs Tradicional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2536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64008" cy="42062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50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Marimo reimagina el notebook: cada celda es una función pura, el DAG de dependencias se recalcula automáticamente y el fichero es Python puro ejecutable.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335024"/>
            <a:ext cx="3977640" cy="329184"/>
          </a:xfrm>
          <a:prstGeom prst="rect">
            <a:avLst/>
          </a:prstGeom>
          <a:solidFill>
            <a:srgbClr val="1C1500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35024"/>
            <a:ext cx="54864" cy="32918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🔶  Jupyter Notebook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3977640" cy="402336"/>
          </a:xfrm>
          <a:prstGeom prst="rect">
            <a:avLst/>
          </a:prstGeom>
          <a:solidFill>
            <a:srgbClr val="110E00"/>
          </a:solidFill>
          <a:ln w="6350">
            <a:solidFill>
              <a:srgbClr val="2A2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830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oculto: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1938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celdas se ejecutan en cualquier orden — el estado global se acumula y puede ser inconsistente.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3977640" cy="402336"/>
          </a:xfrm>
          <a:prstGeom prst="rect">
            <a:avLst/>
          </a:prstGeom>
          <a:solidFill>
            <a:srgbClr val="110E00"/>
          </a:solidFill>
          <a:ln w="6350">
            <a:solidFill>
              <a:srgbClr val="2A2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585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 huérfanas: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4140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una celda no elimina las variables que definía del entorno.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688336"/>
            <a:ext cx="3977640" cy="402336"/>
          </a:xfrm>
          <a:prstGeom prst="rect">
            <a:avLst/>
          </a:prstGeom>
          <a:solidFill>
            <a:srgbClr val="110E00"/>
          </a:solidFill>
          <a:ln w="6350">
            <a:solidFill>
              <a:srgbClr val="2A2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3405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.py puro: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8895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.ipynb es JSON — difícil de hacer code review, merge conflictos complejos.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163824"/>
            <a:ext cx="3977640" cy="402336"/>
          </a:xfrm>
          <a:prstGeom prst="rect">
            <a:avLst/>
          </a:prstGeom>
          <a:solidFill>
            <a:srgbClr val="110E00"/>
          </a:solidFill>
          <a:ln w="6350">
            <a:solidFill>
              <a:srgbClr val="2A2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2095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reactividad: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3649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una celda no actualiza las que dependen de ella automáticamente.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3977640" cy="402336"/>
          </a:xfrm>
          <a:prstGeom prst="rect">
            <a:avLst/>
          </a:prstGeom>
          <a:solidFill>
            <a:srgbClr val="110E00"/>
          </a:solidFill>
          <a:ln w="6350">
            <a:solidFill>
              <a:srgbClr val="2A2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850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app: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38404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publicar necesitas nbconvert, Voilà u otras herramientas extra.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3977640" cy="402336"/>
          </a:xfrm>
          <a:prstGeom prst="rect">
            <a:avLst/>
          </a:prstGeom>
          <a:solidFill>
            <a:srgbClr val="110E00"/>
          </a:solidFill>
          <a:ln w="6350">
            <a:solidFill>
              <a:srgbClr val="2A2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605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difíciles: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3159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en CI/CD requiere nbmake o nbconvert — no es Python estándar.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34840" y="1335024"/>
            <a:ext cx="4434840" cy="329184"/>
          </a:xfrm>
          <a:prstGeom prst="rect">
            <a:avLst/>
          </a:prstGeom>
          <a:solidFill>
            <a:srgbClr val="1C001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1335024"/>
            <a:ext cx="54864" cy="32918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353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 Marimo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34840" y="1737360"/>
            <a:ext cx="4434840" cy="402336"/>
          </a:xfrm>
          <a:prstGeom prst="rect">
            <a:avLst/>
          </a:prstGeom>
          <a:solidFill>
            <a:srgbClr val="160010"/>
          </a:solidFill>
          <a:ln w="6350">
            <a:solidFill>
              <a:srgbClr val="301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17830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oculto: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0" y="1938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declara sus salidas como valores de retorno. El orden lo decide el DAG.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34840" y="2212848"/>
            <a:ext cx="4434840" cy="402336"/>
          </a:xfrm>
          <a:prstGeom prst="rect">
            <a:avLst/>
          </a:prstGeom>
          <a:solidFill>
            <a:srgbClr val="160010"/>
          </a:solidFill>
          <a:ln w="6350">
            <a:solidFill>
              <a:srgbClr val="301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2585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Reactividad automática: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0" y="241401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cambiar una celda, todas las que dependen de ella se re-ejecutan al instante.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34840" y="2688336"/>
            <a:ext cx="4434840" cy="402336"/>
          </a:xfrm>
          <a:prstGeom prst="rect">
            <a:avLst/>
          </a:prstGeom>
          <a:solidFill>
            <a:srgbClr val="160010"/>
          </a:solidFill>
          <a:ln w="6350">
            <a:solidFill>
              <a:srgbClr val="3010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7340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 puro ejecutable: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0" y="28895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marimo run app.py o python app.py — sin conversión. Git diff limpio.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34840" y="3163824"/>
            <a:ext cx="4434840" cy="402336"/>
          </a:xfrm>
          <a:prstGeom prst="rect">
            <a:avLst/>
          </a:prstGeom>
          <a:solidFill>
            <a:srgbClr val="160010"/>
          </a:solidFill>
          <a:ln w="6350">
            <a:solidFill>
              <a:srgbClr val="3010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20954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reactiva integrada: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0" y="33649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mo.ui.slider, mo.ui.dropdown… los widgets conectan directamente con el código.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434840" y="3639312"/>
            <a:ext cx="4434840" cy="402336"/>
          </a:xfrm>
          <a:prstGeom prst="rect">
            <a:avLst/>
          </a:prstGeom>
          <a:solidFill>
            <a:srgbClr val="160010"/>
          </a:solidFill>
          <a:ln w="6350">
            <a:solidFill>
              <a:srgbClr val="3010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6850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y notebook en 1: 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0" y="38404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fichero funciona como notebook interactivo y como app web desplegable.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434840" y="4114800"/>
            <a:ext cx="4434840" cy="402336"/>
          </a:xfrm>
          <a:prstGeom prst="rect">
            <a:avLst/>
          </a:prstGeom>
          <a:solidFill>
            <a:srgbClr val="160010"/>
          </a:solidFill>
          <a:ln w="6350">
            <a:solidFill>
              <a:srgbClr val="3010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1605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Testeable y CI-friendly: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0" y="43159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 funciona directamente — es Python estándar, nada especial.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617720"/>
            <a:ext cx="54864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marimo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0604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marimo edit app.py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0916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marimo run app.py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12280" y="4663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marimo export html app.py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necesitamos Control de Versiones?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02336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402336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😱 EL PROBLEMA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28600" cy="2286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final.doc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28600" cy="2286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final_v2.doc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228600" cy="2286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56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final_v2_CORREGIDO.doc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final_v2_CORREGIDO_revisado.doc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final_FINAL.doc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28600" cy="2286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final_FINAL_definitivo.doc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228600" cy="22860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final_FINAL_NOW_THIS_ONE.doc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640080"/>
            <a:ext cx="429768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640080"/>
            <a:ext cx="42976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6583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LA SOLUCIÓN: GIT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115568"/>
            <a:ext cx="402336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133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Máquina del tiempo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cualquier versión anterior en segundos.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1865376"/>
            <a:ext cx="402336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Trabajo en equipo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colaboradores sin sobrescribirse mutuamente.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615184"/>
            <a:ext cx="402336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Experimenta sin miedo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ramas para probar ideas sin romper nada.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364992"/>
            <a:ext cx="402336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Historial completo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quién cambió qué, cuándo y por qué.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4114800"/>
            <a:ext cx="402336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Respaldo en la nube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código seguro en GitHub, siempre accesible.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AF7AB-A068-71E5-5DA7-12A72552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DA2D0B-17E4-1369-6B1A-33F05A39B300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27918E-6639-20E9-F126-D281940773EC}"/>
              </a:ext>
            </a:extLst>
          </p:cNvPr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6B745F-6972-CD73-C5F8-CF68CE69CF69}"/>
              </a:ext>
            </a:extLst>
          </p:cNvPr>
          <p:cNvSpPr/>
          <p:nvPr/>
        </p:nvSpPr>
        <p:spPr>
          <a:xfrm>
            <a:off x="274320" y="685800"/>
            <a:ext cx="3931920" cy="4206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1FF0D30-B9FA-CCEB-5CCD-0AE63672D626}"/>
              </a:ext>
            </a:extLst>
          </p:cNvPr>
          <p:cNvSpPr/>
          <p:nvPr/>
        </p:nvSpPr>
        <p:spPr>
          <a:xfrm>
            <a:off x="274320" y="68580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EEE9F5-9579-87EB-F850-C57BBA0184B9}"/>
              </a:ext>
            </a:extLst>
          </p:cNvPr>
          <p:cNvSpPr/>
          <p:nvPr/>
        </p:nvSpPr>
        <p:spPr>
          <a:xfrm>
            <a:off x="1645920" y="868680"/>
            <a:ext cx="1188720" cy="1188720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>
                <a:alpha val="80000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2FD236D-9AD6-1B08-C0E1-59C748637A32}"/>
              </a:ext>
            </a:extLst>
          </p:cNvPr>
          <p:cNvSpPr/>
          <p:nvPr/>
        </p:nvSpPr>
        <p:spPr>
          <a:xfrm>
            <a:off x="4572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F1A1F7-942F-5419-AC1C-8C89ACE7AD9E}"/>
              </a:ext>
            </a:extLst>
          </p:cNvPr>
          <p:cNvSpPr/>
          <p:nvPr/>
        </p:nvSpPr>
        <p:spPr>
          <a:xfrm>
            <a:off x="457200" y="2542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local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599820-7943-F339-BF2E-76FFA197487F}"/>
              </a:ext>
            </a:extLst>
          </p:cNvPr>
          <p:cNvSpPr/>
          <p:nvPr/>
        </p:nvSpPr>
        <p:spPr>
          <a:xfrm>
            <a:off x="457200" y="288036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751536-313B-5CF9-8269-C8623F411948}"/>
              </a:ext>
            </a:extLst>
          </p:cNvPr>
          <p:cNvSpPr/>
          <p:nvPr/>
        </p:nvSpPr>
        <p:spPr>
          <a:xfrm>
            <a:off x="713232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control de versiones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FCF6024-6152-3AFB-6B0C-87D74A98A90F}"/>
              </a:ext>
            </a:extLst>
          </p:cNvPr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E4CC8D-EB1D-A49E-277A-E141A0AC4DC8}"/>
              </a:ext>
            </a:extLst>
          </p:cNvPr>
          <p:cNvSpPr/>
          <p:nvPr/>
        </p:nvSpPr>
        <p:spPr>
          <a:xfrm>
            <a:off x="713232" y="3154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tu ordenador local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20A09AB-D633-61CB-FEB7-5C2F1F7111B0}"/>
              </a:ext>
            </a:extLst>
          </p:cNvPr>
          <p:cNvSpPr/>
          <p:nvPr/>
        </p:nvSpPr>
        <p:spPr>
          <a:xfrm>
            <a:off x="457200" y="3483864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F47AFE-558F-5AB2-5391-636BF453D8F5}"/>
              </a:ext>
            </a:extLst>
          </p:cNvPr>
          <p:cNvSpPr/>
          <p:nvPr/>
        </p:nvSpPr>
        <p:spPr>
          <a:xfrm>
            <a:off x="713232" y="3456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 a internet necesaria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BA8A821-FC31-F089-2CEF-42AF99520A61}"/>
              </a:ext>
            </a:extLst>
          </p:cNvPr>
          <p:cNvSpPr/>
          <p:nvPr/>
        </p:nvSpPr>
        <p:spPr>
          <a:xfrm>
            <a:off x="457200" y="3785616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EF236B5-FAF7-AB5D-43E5-44DDCDFEB756}"/>
              </a:ext>
            </a:extLst>
          </p:cNvPr>
          <p:cNvSpPr/>
          <p:nvPr/>
        </p:nvSpPr>
        <p:spPr>
          <a:xfrm>
            <a:off x="713232" y="37581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Linus Torvalds (2005)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D78832B-B31F-FB30-546B-6A2A5B38E90F}"/>
              </a:ext>
            </a:extLst>
          </p:cNvPr>
          <p:cNvSpPr/>
          <p:nvPr/>
        </p:nvSpPr>
        <p:spPr>
          <a:xfrm>
            <a:off x="457200" y="408736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16A7B4-F4AC-CEE3-004C-B85972A03BCA}"/>
              </a:ext>
            </a:extLst>
          </p:cNvPr>
          <p:cNvSpPr/>
          <p:nvPr/>
        </p:nvSpPr>
        <p:spPr>
          <a:xfrm>
            <a:off x="713232" y="40599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lenguaje" del control de versiones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9BBDE10-3D04-6AE3-96E3-597CE643C669}"/>
              </a:ext>
            </a:extLst>
          </p:cNvPr>
          <p:cNvSpPr/>
          <p:nvPr/>
        </p:nvSpPr>
        <p:spPr>
          <a:xfrm>
            <a:off x="6035040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1447DB3-49FA-F715-8D74-4F8CA35BC159}"/>
              </a:ext>
            </a:extLst>
          </p:cNvPr>
          <p:cNvSpPr/>
          <p:nvPr/>
        </p:nvSpPr>
        <p:spPr>
          <a:xfrm>
            <a:off x="4965192" y="90297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100" b="0" i="0" dirty="0">
                <a:solidFill>
                  <a:srgbClr val="E7E9EA"/>
                </a:solidFill>
                <a:effectLst/>
                <a:latin typeface="TwitterChirp"/>
                <a:hlinkClick r:id="rId3"/>
              </a:rPr>
              <a:t>Explain ‘GIT’ in 60 seconds!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D35D43F-54D3-CA06-44CA-23B6E23472E6}"/>
              </a:ext>
            </a:extLst>
          </p:cNvPr>
          <p:cNvSpPr/>
          <p:nvPr/>
        </p:nvSpPr>
        <p:spPr>
          <a:xfrm>
            <a:off x="4343400" y="731520"/>
            <a:ext cx="45720" cy="4114800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pic>
        <p:nvPicPr>
          <p:cNvPr id="1026" name="Picture 2" descr="Git - Logo Downloads">
            <a:extLst>
              <a:ext uri="{FF2B5EF4-FFF2-40B4-BE49-F238E27FC236}">
                <a16:creationId xmlns:a16="http://schemas.microsoft.com/office/drawing/2014/main" id="{3DD6870B-ACC2-0B35-D37E-C2383EC64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547" y="1197097"/>
            <a:ext cx="699136" cy="6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12208DE2-9C0E-A37D-8F45-E71AC6801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1336167"/>
            <a:ext cx="4208121" cy="308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3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vs GitHub — ¿Cuál es la diferencia?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4206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8580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868680"/>
            <a:ext cx="1188720" cy="1188720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local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control de versiones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54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tu ordenador local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456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 a internet necesaria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7581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Linus Torvalds (2005)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8736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0599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lenguaje" del control de versiones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685800"/>
            <a:ext cx="4297680" cy="4206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685800"/>
            <a:ext cx="429768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868680"/>
            <a:ext cx="1371600" cy="1371600"/>
          </a:xfrm>
          <a:prstGeom prst="ellipse">
            <a:avLst/>
          </a:prstGeom>
          <a:solidFill>
            <a:srgbClr val="3A86FF">
              <a:alpha val="80000"/>
            </a:srgbClr>
          </a:solidFill>
          <a:ln w="12700">
            <a:solidFill>
              <a:srgbClr val="3A86F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005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8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63440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colaborativa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164592" cy="164592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2852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alojar repos Git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182112"/>
            <a:ext cx="164592" cy="164592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192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(GUI) para Git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483864"/>
            <a:ext cx="164592" cy="164592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entre equipos globales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785616"/>
            <a:ext cx="164592" cy="164592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65192" y="3758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Issues, Actions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87368"/>
            <a:ext cx="164592" cy="164592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65192" y="4059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Google Drive pero para código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27417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343400" y="731520"/>
            <a:ext cx="45720" cy="4114800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</p:sp>
      <p:pic>
        <p:nvPicPr>
          <p:cNvPr id="1026" name="Picture 2" descr="Git - Logo Downloads">
            <a:extLst>
              <a:ext uri="{FF2B5EF4-FFF2-40B4-BE49-F238E27FC236}">
                <a16:creationId xmlns:a16="http://schemas.microsoft.com/office/drawing/2014/main" id="{2EF9DC5E-8C73-FC0D-33E7-518E6D936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547" y="1197097"/>
            <a:ext cx="699136" cy="62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04EED01-E58B-27C1-5776-777163C4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732" y="1121664"/>
            <a:ext cx="984216" cy="89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Conceptos Fundamentales de Git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192024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73152" cy="192024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carpeta de trabajo. Aquí editas los archivos normalmente. Git sabe qué cambió pero aún no lo rastrea.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685800"/>
            <a:ext cx="4206240" cy="192024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685800"/>
            <a:ext cx="73152" cy="19202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 (Index)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preparación. Seleccionas qué cambios incluir en el próximo commit con git add. Como preparar una caja antes de enviarla.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192024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73152" cy="1920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(.git)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'caja fuerte' donde se guardan permanentemente todos los snapshots (commits). Está en la carpeta oculta .git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206240" cy="1920240"/>
          </a:xfrm>
          <a:prstGeom prst="rect">
            <a:avLst/>
          </a:prstGeom>
          <a:solidFill>
            <a:srgbClr val="FDF4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88920"/>
            <a:ext cx="73152" cy="1920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(GitHub)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4290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del repositorio en internet. push sube tus cambios, pull los descarga. Permite colaborar con otros.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828800" y="4754880"/>
            <a:ext cx="1645920" cy="27432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4754880"/>
            <a:ext cx="1645920" cy="2743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4754880"/>
            <a:ext cx="1645920" cy="274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1067-356A-91D7-7914-097D7C3C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46C362B-E12F-8003-41B9-F1057F427F5A}"/>
              </a:ext>
            </a:extLst>
          </p:cNvPr>
          <p:cNvSpPr/>
          <p:nvPr/>
        </p:nvSpPr>
        <p:spPr>
          <a:xfrm>
            <a:off x="274320" y="73152"/>
            <a:ext cx="4872018" cy="399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Requests</a:t>
            </a:r>
            <a:endParaRPr lang="en-US" sz="20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A714118-58CC-5A28-62E6-E94F0A626421}"/>
              </a:ext>
            </a:extLst>
          </p:cNvPr>
          <p:cNvSpPr/>
          <p:nvPr/>
        </p:nvSpPr>
        <p:spPr>
          <a:xfrm>
            <a:off x="-1" y="-1"/>
            <a:ext cx="9268691" cy="5428211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ADA3AD-5622-4D19-5FE2-2185CC148847}"/>
              </a:ext>
            </a:extLst>
          </p:cNvPr>
          <p:cNvSpPr/>
          <p:nvPr/>
        </p:nvSpPr>
        <p:spPr>
          <a:xfrm>
            <a:off x="274320" y="73152"/>
            <a:ext cx="4872018" cy="399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Comandos Esenciales de Git</a:t>
            </a:r>
            <a:endParaRPr lang="en-US" sz="20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ED154C8-6D72-F1CF-BDFB-33D0B6C8AC98}"/>
              </a:ext>
            </a:extLst>
          </p:cNvPr>
          <p:cNvSpPr/>
          <p:nvPr/>
        </p:nvSpPr>
        <p:spPr>
          <a:xfrm>
            <a:off x="228600" y="640080"/>
            <a:ext cx="2410094" cy="139733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21345E1-9A16-AE92-AC6D-96D12E7C3309}"/>
              </a:ext>
            </a:extLst>
          </p:cNvPr>
          <p:cNvSpPr/>
          <p:nvPr/>
        </p:nvSpPr>
        <p:spPr>
          <a:xfrm>
            <a:off x="228600" y="640080"/>
            <a:ext cx="2410094" cy="63698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DC0592A-F81C-F449-C18A-8FCB1FDA8796}"/>
              </a:ext>
            </a:extLst>
          </p:cNvPr>
          <p:cNvSpPr/>
          <p:nvPr/>
        </p:nvSpPr>
        <p:spPr>
          <a:xfrm>
            <a:off x="365760" y="804672"/>
            <a:ext cx="1969539" cy="39923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507267-D424-26E6-E073-C2CFBD63A729}"/>
              </a:ext>
            </a:extLst>
          </p:cNvPr>
          <p:cNvSpPr/>
          <p:nvPr/>
        </p:nvSpPr>
        <p:spPr>
          <a:xfrm>
            <a:off x="411480" y="813816"/>
            <a:ext cx="2125029" cy="379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F0915F-6A8B-B879-9F24-2B6CE854DAF8}"/>
              </a:ext>
            </a:extLst>
          </p:cNvPr>
          <p:cNvSpPr/>
          <p:nvPr/>
        </p:nvSpPr>
        <p:spPr>
          <a:xfrm>
            <a:off x="411480" y="1261871"/>
            <a:ext cx="2228689" cy="59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un nuevo repo en la carpeta actual. Crea la carpeta oculta .git</a:t>
            </a:r>
            <a:endParaRPr lang="en-US" sz="10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DABC486-BCCE-858C-5542-7E03802D9A50}"/>
              </a:ext>
            </a:extLst>
          </p:cNvPr>
          <p:cNvSpPr/>
          <p:nvPr/>
        </p:nvSpPr>
        <p:spPr>
          <a:xfrm>
            <a:off x="2756992" y="640080"/>
            <a:ext cx="2410094" cy="139733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234389A-FF4E-0C78-3DE5-A35164EB9805}"/>
              </a:ext>
            </a:extLst>
          </p:cNvPr>
          <p:cNvSpPr/>
          <p:nvPr/>
        </p:nvSpPr>
        <p:spPr>
          <a:xfrm>
            <a:off x="2756992" y="640080"/>
            <a:ext cx="2410094" cy="6369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C253C15-75A7-2947-438E-F1D5029ACB88}"/>
              </a:ext>
            </a:extLst>
          </p:cNvPr>
          <p:cNvSpPr/>
          <p:nvPr/>
        </p:nvSpPr>
        <p:spPr>
          <a:xfrm>
            <a:off x="2836097" y="804672"/>
            <a:ext cx="1969539" cy="39923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D1063A9-B9C0-771C-BFAF-6EBEE8B76288}"/>
              </a:ext>
            </a:extLst>
          </p:cNvPr>
          <p:cNvSpPr/>
          <p:nvPr/>
        </p:nvSpPr>
        <p:spPr>
          <a:xfrm>
            <a:off x="2852788" y="813816"/>
            <a:ext cx="2125029" cy="379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C8AE7E1-EAE1-2775-1A8C-C6EA44F91A0F}"/>
              </a:ext>
            </a:extLst>
          </p:cNvPr>
          <p:cNvSpPr/>
          <p:nvPr/>
        </p:nvSpPr>
        <p:spPr>
          <a:xfrm>
            <a:off x="2881817" y="1261871"/>
            <a:ext cx="2228689" cy="59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estado actual: archivos modificados (rojo) vs preparados (verde). ¡Úsalo frecuentemente!</a:t>
            </a:r>
            <a:endParaRPr lang="en-US" sz="10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EDEAA1C-5BE9-AA29-B0B1-E5E3A5B863CF}"/>
              </a:ext>
            </a:extLst>
          </p:cNvPr>
          <p:cNvSpPr/>
          <p:nvPr/>
        </p:nvSpPr>
        <p:spPr>
          <a:xfrm>
            <a:off x="228600" y="2057400"/>
            <a:ext cx="2410094" cy="139733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0C462D9-D76D-F236-ABED-54A85C37B245}"/>
              </a:ext>
            </a:extLst>
          </p:cNvPr>
          <p:cNvSpPr/>
          <p:nvPr/>
        </p:nvSpPr>
        <p:spPr>
          <a:xfrm>
            <a:off x="228600" y="2057400"/>
            <a:ext cx="2410094" cy="6369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3A56034-6996-C3F0-8309-2C4FE1346BD0}"/>
              </a:ext>
            </a:extLst>
          </p:cNvPr>
          <p:cNvSpPr/>
          <p:nvPr/>
        </p:nvSpPr>
        <p:spPr>
          <a:xfrm>
            <a:off x="365760" y="2221992"/>
            <a:ext cx="1969539" cy="39923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A2BEF73-46EB-490E-FD93-A96F0243B404}"/>
              </a:ext>
            </a:extLst>
          </p:cNvPr>
          <p:cNvSpPr/>
          <p:nvPr/>
        </p:nvSpPr>
        <p:spPr>
          <a:xfrm>
            <a:off x="411480" y="2231136"/>
            <a:ext cx="2125029" cy="379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2ED67AC-116F-DD37-93DB-DC4DED1719EB}"/>
              </a:ext>
            </a:extLst>
          </p:cNvPr>
          <p:cNvSpPr/>
          <p:nvPr/>
        </p:nvSpPr>
        <p:spPr>
          <a:xfrm>
            <a:off x="411480" y="2679191"/>
            <a:ext cx="2228689" cy="59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TODOS los cambios al Staging Area. También: git add archivo.py para un solo archivo.</a:t>
            </a:r>
            <a:endParaRPr lang="en-US" sz="105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E95DA2D-0F25-E6ED-E9B3-8F2CDC52D2B1}"/>
              </a:ext>
            </a:extLst>
          </p:cNvPr>
          <p:cNvSpPr/>
          <p:nvPr/>
        </p:nvSpPr>
        <p:spPr>
          <a:xfrm>
            <a:off x="2756992" y="2057400"/>
            <a:ext cx="2410094" cy="139733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3260B4E-B9EA-E9D1-99B2-FCA4ED078EC8}"/>
              </a:ext>
            </a:extLst>
          </p:cNvPr>
          <p:cNvSpPr/>
          <p:nvPr/>
        </p:nvSpPr>
        <p:spPr>
          <a:xfrm>
            <a:off x="2756992" y="2057400"/>
            <a:ext cx="2410094" cy="6369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CFD354D-545A-9E2C-8778-6F7F0A515229}"/>
              </a:ext>
            </a:extLst>
          </p:cNvPr>
          <p:cNvSpPr/>
          <p:nvPr/>
        </p:nvSpPr>
        <p:spPr>
          <a:xfrm>
            <a:off x="2756268" y="2221992"/>
            <a:ext cx="2305101" cy="39923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79A82B8-8340-D808-1989-452AA7DE9E3E}"/>
              </a:ext>
            </a:extLst>
          </p:cNvPr>
          <p:cNvSpPr/>
          <p:nvPr/>
        </p:nvSpPr>
        <p:spPr>
          <a:xfrm>
            <a:off x="2940155" y="2231135"/>
            <a:ext cx="2170351" cy="410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"msg"</a:t>
            </a:r>
            <a:endParaRPr lang="en-US" sz="13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62456CF-CD61-58E5-8301-F2A047B13AE9}"/>
              </a:ext>
            </a:extLst>
          </p:cNvPr>
          <p:cNvSpPr/>
          <p:nvPr/>
        </p:nvSpPr>
        <p:spPr>
          <a:xfrm>
            <a:off x="2881817" y="2679191"/>
            <a:ext cx="2228689" cy="59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snapshot permanente con mensaje descriptivo. Cada commit tiene un SHA-1 único.</a:t>
            </a:r>
            <a:endParaRPr lang="en-US" sz="105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AB33B9C-6CBB-B63F-D67D-BCB2487F021C}"/>
              </a:ext>
            </a:extLst>
          </p:cNvPr>
          <p:cNvSpPr/>
          <p:nvPr/>
        </p:nvSpPr>
        <p:spPr>
          <a:xfrm>
            <a:off x="228600" y="3474720"/>
            <a:ext cx="2410094" cy="139733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3278485-70BD-EA1E-AD0F-E3E011E79548}"/>
              </a:ext>
            </a:extLst>
          </p:cNvPr>
          <p:cNvSpPr/>
          <p:nvPr/>
        </p:nvSpPr>
        <p:spPr>
          <a:xfrm>
            <a:off x="228600" y="3474720"/>
            <a:ext cx="2410094" cy="6369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C49606F-E418-8936-8A37-5AFFD8CABFFC}"/>
              </a:ext>
            </a:extLst>
          </p:cNvPr>
          <p:cNvSpPr/>
          <p:nvPr/>
        </p:nvSpPr>
        <p:spPr>
          <a:xfrm>
            <a:off x="365760" y="3639312"/>
            <a:ext cx="1969539" cy="39923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E733517-A1AC-A6AC-DAF1-66B43ED2FA89}"/>
              </a:ext>
            </a:extLst>
          </p:cNvPr>
          <p:cNvSpPr/>
          <p:nvPr/>
        </p:nvSpPr>
        <p:spPr>
          <a:xfrm>
            <a:off x="411480" y="3648456"/>
            <a:ext cx="2125029" cy="379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3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33DE816-23D2-60D2-9EC3-BFCF85525CAE}"/>
              </a:ext>
            </a:extLst>
          </p:cNvPr>
          <p:cNvSpPr/>
          <p:nvPr/>
        </p:nvSpPr>
        <p:spPr>
          <a:xfrm>
            <a:off x="411480" y="4096511"/>
            <a:ext cx="2228689" cy="59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historial completo de commits con fecha, autor y mensaje.</a:t>
            </a:r>
            <a:endParaRPr lang="en-US" sz="105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8D9C4C3C-6CEC-A140-7685-FBF5CD4C2FFD}"/>
              </a:ext>
            </a:extLst>
          </p:cNvPr>
          <p:cNvSpPr/>
          <p:nvPr/>
        </p:nvSpPr>
        <p:spPr>
          <a:xfrm>
            <a:off x="2764250" y="3474720"/>
            <a:ext cx="2410094" cy="139733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FE51B28-B9A6-F77D-2187-B2733D2B5115}"/>
              </a:ext>
            </a:extLst>
          </p:cNvPr>
          <p:cNvSpPr/>
          <p:nvPr/>
        </p:nvSpPr>
        <p:spPr>
          <a:xfrm>
            <a:off x="2771507" y="3474720"/>
            <a:ext cx="2410094" cy="6369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DC340D6-444E-5515-21E0-48E93CF57D42}"/>
              </a:ext>
            </a:extLst>
          </p:cNvPr>
          <p:cNvSpPr/>
          <p:nvPr/>
        </p:nvSpPr>
        <p:spPr>
          <a:xfrm>
            <a:off x="2828840" y="3639312"/>
            <a:ext cx="1969539" cy="399239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44F671A-26C7-3AA3-2DB5-3FEF77F6000A}"/>
              </a:ext>
            </a:extLst>
          </p:cNvPr>
          <p:cNvSpPr/>
          <p:nvPr/>
        </p:nvSpPr>
        <p:spPr>
          <a:xfrm>
            <a:off x="2925357" y="3648456"/>
            <a:ext cx="2125029" cy="379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[URL]</a:t>
            </a:r>
            <a:endParaRPr lang="en-US" sz="13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467C337-4FCF-0AAE-22A4-5BCE7297C734}"/>
              </a:ext>
            </a:extLst>
          </p:cNvPr>
          <p:cNvSpPr/>
          <p:nvPr/>
        </p:nvSpPr>
        <p:spPr>
          <a:xfrm>
            <a:off x="2881817" y="4096511"/>
            <a:ext cx="2228689" cy="598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un repositorio completo de GitHub a tu ordenador local.</a:t>
            </a:r>
            <a:endParaRPr lang="en-US" sz="105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062FE8B5-F0D4-B13F-C57A-7676341FB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764" y="916058"/>
            <a:ext cx="3684050" cy="367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31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 de Trabajo Típico en Git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73152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046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Modificas archivos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carpeta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0" y="1097280"/>
            <a:ext cx="45720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978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731520"/>
            <a:ext cx="822960" cy="82296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8046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8600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5740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Preparas cambios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commit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097280"/>
            <a:ext cx="45720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978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60520" y="73152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8046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02336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9476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94760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Verificas qué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 a guardar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097280"/>
            <a:ext cx="45720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978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97880" y="73152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8046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6072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3212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Creas el snapshot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1097280"/>
            <a:ext cx="457200" cy="731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978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35240" y="731520"/>
            <a:ext cx="822960" cy="8229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8046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98080" y="16642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6948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69480" y="2450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 a 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repositorio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108960"/>
            <a:ext cx="85953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3108960"/>
            <a:ext cx="54864" cy="18288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completa de comandos: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3538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              # Ver qué cambió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38679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              # Preparar todos los cambios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197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email cleaning function"  # Guardar con mensaje claro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    # Subir a GitHub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Ramas (Branches) — Trabaja en Paralelo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046720" cy="64008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5087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5087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15087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115568"/>
            <a:ext cx="64008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Shape 9"/>
          <p:cNvSpPr/>
          <p:nvPr/>
        </p:nvSpPr>
        <p:spPr>
          <a:xfrm>
            <a:off x="2423160" y="1115568"/>
            <a:ext cx="420624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5392" y="1115568"/>
            <a:ext cx="64008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978408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0" y="978408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978408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978408"/>
            <a:ext cx="320040" cy="32004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640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feature/email-parser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" y="2286000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" y="2286000"/>
            <a:ext cx="201168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2706624" y="2286000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5920" y="2148840"/>
            <a:ext cx="320040" cy="3200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hotfix/bug-fix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4023360" cy="1554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Ramas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822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                # Ver ramas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096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    # Crear y cambiar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370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          # Volver a main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645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          # Fusionar rama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114800" cy="1554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sirven las ramas?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849624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5102352" y="3822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features sin afectar main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4123944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4" name="Text 32"/>
          <p:cNvSpPr/>
          <p:nvPr/>
        </p:nvSpPr>
        <p:spPr>
          <a:xfrm>
            <a:off x="5102352" y="4096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bugs de forma aislada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4398264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6" name="Text 34"/>
          <p:cNvSpPr/>
          <p:nvPr/>
        </p:nvSpPr>
        <p:spPr>
          <a:xfrm>
            <a:off x="5102352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ideas sin romper nada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672584"/>
            <a:ext cx="128016" cy="128016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8" name="Text 36"/>
          <p:cNvSpPr/>
          <p:nvPr/>
        </p:nvSpPr>
        <p:spPr>
          <a:xfrm>
            <a:off x="5102352" y="4645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revisado antes de fusionar (PR)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3">
            <a:extLst>
              <a:ext uri="{FF2B5EF4-FFF2-40B4-BE49-F238E27FC236}">
                <a16:creationId xmlns:a16="http://schemas.microsoft.com/office/drawing/2014/main" id="{65D69748-017F-9A74-D49C-14AC5DF38672}"/>
              </a:ext>
            </a:extLst>
          </p:cNvPr>
          <p:cNvSpPr/>
          <p:nvPr/>
        </p:nvSpPr>
        <p:spPr>
          <a:xfrm>
            <a:off x="228600" y="3070098"/>
            <a:ext cx="8595360" cy="134188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Escribir Commits Perfectos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57200" cy="45720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58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640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asunto del cuerpo con línea en blanco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278255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4378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86815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el asunto a 50 caracteres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815465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71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7145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 la primera letra del asunto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38125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44678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28981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termines el asunto con punto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73152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7589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640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modo imperativo: 'Add', 'Fix', 'Update'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37760" y="1335405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62837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1243965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Envuelve el cuerpo a 72 caracteres por línea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37760" y="18821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9095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17907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cuerpo para explicar el QUÉ y POR QUÉ, no el cómo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4480560"/>
            <a:ext cx="54864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git commit -m "</a:t>
            </a:r>
            <a:r>
              <a:rPr lang="en-U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arreglos</a:t>
            </a: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✅  git commit -m "Fix null pointer in email parser when body is empty"</a:t>
            </a:r>
            <a:endParaRPr lang="en-US" sz="11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EA493BC-704C-3C44-A889-526B3F86928D}"/>
              </a:ext>
            </a:extLst>
          </p:cNvPr>
          <p:cNvSpPr/>
          <p:nvPr/>
        </p:nvSpPr>
        <p:spPr>
          <a:xfrm>
            <a:off x="301752" y="3079242"/>
            <a:ext cx="8321040" cy="37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s-ES" sz="1100" dirty="0">
              <a:solidFill>
                <a:srgbClr val="38BDF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 nueva funcionalidad al código. Generalmente, esto se asocia con un incremento en la versión menor (</a:t>
            </a:r>
            <a:r>
              <a:rPr lang="es-E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</a:t>
            </a: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en el versionado semántico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parches o correcciones de errores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chore:: Reservado para tareas de mantenimiento rutinario, como actualizar dependencias (por ejemplo, con </a:t>
            </a:r>
            <a:r>
              <a:rPr lang="es-E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s-E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cambiar archivos de configuración de compilación o gestionar metadatos, que no afectan al código de producción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r>
              <a:rPr lang="es-E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documentación, como actualizar el archivo README.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38BDF8"/>
              </a:solidFill>
              <a:latin typeface="Courier New" pitchFamily="34" charset="0"/>
              <a:cs typeface="Courier New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rgbClr val="38BDF8"/>
              </a:solidFill>
              <a:latin typeface="Courier New" pitchFamily="34" charset="0"/>
              <a:cs typeface="Courier New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Requests — Colaboración Profesional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7432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868680"/>
            <a:ext cx="502920" cy="50292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2354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886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/ Clonar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el repo original  a tu cuenta GitHub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685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685800"/>
            <a:ext cx="2743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8686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2354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50208" y="886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Rama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–b  mi-feature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685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85800"/>
            <a:ext cx="274320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86868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92354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76288" y="886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+ Commits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974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288036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93522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2898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GitHub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26974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697480"/>
            <a:ext cx="27432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288036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293522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50208" y="2898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&amp; Pull Request" en GitHub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69748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6974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3640" y="28803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293522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76288" y="2898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Merge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3474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cambios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754880"/>
            <a:ext cx="45720" cy="274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Un buen PR tiene commits atómicos, descripción clara del cambio y capturas si afecta a la UI.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73152"/>
            <a:ext cx="4872018" cy="399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Requests</a:t>
            </a:r>
            <a:endParaRPr lang="en-US" sz="2000" dirty="0"/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78673B2C-D980-27A5-5FF2-F57455821EFB}"/>
              </a:ext>
            </a:extLst>
          </p:cNvPr>
          <p:cNvSpPr/>
          <p:nvPr/>
        </p:nvSpPr>
        <p:spPr>
          <a:xfrm>
            <a:off x="432262" y="668249"/>
            <a:ext cx="3640975" cy="4206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Pull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Request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OpenClaw</a:t>
            </a:r>
            <a:endParaRPr lang="es-E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s-E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prácticas para crear una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alto nivel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 el "Por qué": No solo digas qué cambiaste, explica por qué es necesario (ej. "para una estructura de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consistente").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lenguaje técnico preciso: Menciona nombres de clases específicas (como .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ov-stat-card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para que el revisor sepa exactamente dónde mirar en el código.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alcance: Aclara que los cambios están aislados a la capa de presentación, lo cual da tranquilidad al equipo de que no se romperá la lógica de negocio.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dependencias: Como se ve en la nota "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—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#23491", es vital avisar si una PR depende de otra anterior.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los cambios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 todo funciona (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GB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7DAC05AB-661A-BA92-F388-9B2702C59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64" y="119169"/>
            <a:ext cx="4031674" cy="49511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2006</Words>
  <Application>Microsoft Office PowerPoint</Application>
  <PresentationFormat>Presentación en pantalla (16:9)</PresentationFormat>
  <Paragraphs>338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Courier New</vt:lpstr>
      <vt:lpstr>TwitterChirp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Versiones, Git, GitHub y LLMs</dc:title>
  <dc:subject>PptxGenJS Presentation</dc:subject>
  <dc:creator>PptxGenJS</dc:creator>
  <cp:lastModifiedBy>Osvaldo Estévanez Jiménez</cp:lastModifiedBy>
  <cp:revision>14</cp:revision>
  <dcterms:created xsi:type="dcterms:W3CDTF">2026-02-21T08:40:45Z</dcterms:created>
  <dcterms:modified xsi:type="dcterms:W3CDTF">2026-03-07T10:44:57Z</dcterms:modified>
</cp:coreProperties>
</file>